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The Story of Wages: A Data-Driven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Analyzing 4,165 workers to understand what really drives 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2264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Introduction: Who Are We Studying?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Analysis of 4,165 workers from the US labor market.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Diverse demographics: experience, education, weeks worked, and wages.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Key variables include gender, union status, residency, and occupation type.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Goal: Use data science to uncover the primary drivers of wage variation.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Key Revelations: Education, Experience, and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1635969"/>
            <a:ext cx="7543800" cy="3647661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dirty="0"/>
              <a:t>Education Effect: Solid correlation (0.394). Every extra year of schooling adds ~7.3% to wages.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dirty="0"/>
              <a:t>Experience Dynamics: Wages rise with experience but tend to plateau around 25 years.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dirty="0"/>
              <a:t>Gender Disparity: Men earn significantly more on average (6.73 vs 6.26 log wage).</a:t>
            </a:r>
          </a:p>
        </p:txBody>
      </p:sp>
      <p:pic>
        <p:nvPicPr>
          <p:cNvPr id="4" name="Picture 3" descr="q1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31" y="4329805"/>
            <a:ext cx="8010937" cy="213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2348" y="6237455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1000"/>
            </a:pPr>
            <a:r>
              <a:rPr dirty="0"/>
              <a:t>Mean wages categorized by Education, Experience, and Sex.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What Does a Typical Worker's Wage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46" y="1405062"/>
            <a:ext cx="8617226" cy="342635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dirty="0"/>
              <a:t>Distribution: Displays a near-symmetric bell curve.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dirty="0"/>
              <a:t>Symmetry: Mean and Median are almost identical, suggesting balanced data.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dirty="0"/>
              <a:t>Statistical Normality: Shapiro-Wilk p-value of 0.0028 rejects perfect </a:t>
            </a:r>
            <a:r>
              <a:rPr lang="en-PH" dirty="0"/>
              <a:t>normality, typical</a:t>
            </a:r>
            <a:r>
              <a:rPr dirty="0"/>
              <a:t> for real-world datasets.</a:t>
            </a:r>
          </a:p>
        </p:txBody>
      </p:sp>
      <p:pic>
        <p:nvPicPr>
          <p:cNvPr id="4" name="Picture 3" descr="q2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9" y="3528391"/>
            <a:ext cx="8478081" cy="2826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71800" y="599925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1000"/>
            </a:pPr>
            <a:r>
              <a:rPr dirty="0"/>
              <a:t>Histogram and Q-Q plot of log wages (</a:t>
            </a:r>
            <a:r>
              <a:rPr dirty="0" err="1"/>
              <a:t>lwage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1777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Cleaning Up the Messy Parts: Handling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Methodology: Used Interquartile Range (IQR) to identify statistical anomalies.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Detection: Found 95 workers (2.3% of data) as outliers.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Thresholds: Wages identified below 5.56 or above 7.79 in log terms.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Decision: Retained outliers for modeling to ensure a comprehensive market 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399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Putting a Hypothesis to the Test: Union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Question: Does joining a union actually pay off in higher wages?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Comparison: Union Mean (6.6817) vs. Non-union Mean (6.6733).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Significance: P-value of 0.527 indicates no statistically significant difference.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Conclusion: Union benefits likely manifest in job security and conditions rather than raw wage premiums in this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Building a Model to Predict Wages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3" y="1689652"/>
            <a:ext cx="4114800" cy="4631635"/>
          </a:xfrm>
        </p:spPr>
        <p:txBody>
          <a:bodyPr>
            <a:normAutofit lnSpcReduction="10000"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Linear Regression: Explained 41% of wage variation (R² = 0.41).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Random Forest: Superior performance with R² of 0.62 and RMSE of 0.2955.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Top Predictors: 1. Education, 2. Experience, 3. Occupation Type, 4. Gender.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Critical Finding: Systemic disparities remain even when controlling for education and experience.</a:t>
            </a:r>
          </a:p>
        </p:txBody>
      </p:sp>
      <p:pic>
        <p:nvPicPr>
          <p:cNvPr id="4" name="Picture 3" descr="q5_rf_actual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583" y="2425493"/>
            <a:ext cx="4631634" cy="3859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7435" y="6027116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1000"/>
            </a:pPr>
            <a:r>
              <a:rPr dirty="0"/>
              <a:t>Random Forest: Actual vs Predicted Log Wages.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Finding Natural Groups: Worker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842" y="1371600"/>
            <a:ext cx="3916019" cy="6430617"/>
          </a:xfrm>
        </p:spPr>
        <p:txBody>
          <a:bodyPr>
            <a:noAutofit/>
          </a:bodyPr>
          <a:lstStyle/>
          <a:p>
            <a:endParaRPr sz="48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1800" dirty="0"/>
              <a:t>Cluster 0 (Part-Timers): Educated professionals working ~35 weeks per year.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1800" dirty="0"/>
              <a:t>Cluster 1 (Seasoned Veterans): High experience (31 years avg), year-round activity.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1800" dirty="0"/>
              <a:t>Cluster 2 (High-Intensity Professionals): Large, high-education core working 48.7 weeks/year.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1800" dirty="0"/>
              <a:t>Insight: Multiple distinct paths exist to achieving competitive wages.</a:t>
            </a:r>
          </a:p>
        </p:txBody>
      </p:sp>
      <p:pic>
        <p:nvPicPr>
          <p:cNvPr id="4" name="Picture 3" descr="q6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286" y="2024766"/>
            <a:ext cx="4919871" cy="3279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044329"/>
            <a:ext cx="39901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1000"/>
            </a:pPr>
            <a:r>
              <a:rPr dirty="0"/>
              <a:t>K</a:t>
            </a:r>
            <a:r>
              <a:rPr lang="en-PH" dirty="0"/>
              <a:t>-</a:t>
            </a:r>
            <a:r>
              <a:rPr dirty="0"/>
              <a:t>Means Clustering based on Experience, Education, and Weeks Worked.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38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Sampling Strategy: Accuracy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Required Sample: 352 respondents for 95% confidence and 5% margin of error.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Method: Proportional Stratified Sampling is recommended.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Implementation: Survey 313 men and 40 women to maintain demographic integrity.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Benefit: Ensures the sample is a perfect representation of the 4,165-worker population.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79099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Why Do We Sample Instead of Studying Everyone?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84782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Advantages: Lower costs, faster turnaround, and higher focus on data quality.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Limitations: Risk of sampling error and potential design bias.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Practicality: Sampling makes wide-scale labor market research feasible.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What Makes or Breaks a Good Sample?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8617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Sample Size: Balance between reliability and resource expenditure.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Methodology: Stratified sampling protects representation for minorities.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Frame &amp; Variability: Success depends on a high-quality list and understanding data spread.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Non-Response: Managing participation rates to avoid self-selection bias.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75440"/>
            <a:ext cx="8229600" cy="1143000"/>
          </a:xfrm>
        </p:spPr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rPr dirty="0"/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626" y="1964289"/>
            <a:ext cx="8229600" cy="4525963"/>
          </a:xfrm>
        </p:spPr>
        <p:txBody>
          <a:bodyPr>
            <a:normAutofit/>
          </a:bodyPr>
          <a:lstStyle/>
          <a:p>
            <a:endParaRPr sz="4000" dirty="0"/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Wages follow a complex story of schooling, experience, and systemic factors.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Data science allows us to read these stories and identify areas for improvement.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rPr sz="2400" dirty="0"/>
              <a:t>Next steps: Use these insights to build fairer workplaces and more effective career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684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The Story of Wages: A Data-Driven Journey</vt:lpstr>
      <vt:lpstr>Introduction: Who Are We Studying?</vt:lpstr>
      <vt:lpstr>Key Revelations: Education, Experience, and Gender</vt:lpstr>
      <vt:lpstr>What Does a Typical Worker's Wage Look Like?</vt:lpstr>
      <vt:lpstr>Cleaning Up the Messy Parts: Handling Outliers</vt:lpstr>
      <vt:lpstr>Putting a Hypothesis to the Test: Union Impact</vt:lpstr>
      <vt:lpstr>Building a Model to Predict Wages</vt:lpstr>
      <vt:lpstr>Finding Natural Groups: Worker Segmentation</vt:lpstr>
      <vt:lpstr>Sampling Strategy: Accuracy and Efficiency</vt:lpstr>
      <vt:lpstr>Why Do We Sample Instead of Studying Everyone?</vt:lpstr>
      <vt:lpstr>What Makes or Breaks a Good Sample?</vt:lpstr>
      <vt:lpstr>Closing Thoughts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Roths Uy</cp:lastModifiedBy>
  <cp:revision>2</cp:revision>
  <dcterms:created xsi:type="dcterms:W3CDTF">2013-01-27T09:14:16Z</dcterms:created>
  <dcterms:modified xsi:type="dcterms:W3CDTF">2026-03-10T02:03:18Z</dcterms:modified>
  <cp:category/>
</cp:coreProperties>
</file>